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4"/>
  </p:sldMasterIdLst>
  <p:notesMasterIdLst>
    <p:notesMasterId r:id="rId14"/>
  </p:notesMasterIdLst>
  <p:sldIdLst>
    <p:sldId id="257" r:id="rId5"/>
    <p:sldId id="260" r:id="rId6"/>
    <p:sldId id="270" r:id="rId7"/>
    <p:sldId id="269" r:id="rId8"/>
    <p:sldId id="271" r:id="rId9"/>
    <p:sldId id="272" r:id="rId10"/>
    <p:sldId id="273" r:id="rId11"/>
    <p:sldId id="274" r:id="rId12"/>
    <p:sldId id="27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09BAF"/>
    <a:srgbClr val="719AB7"/>
    <a:srgbClr val="679CB0"/>
    <a:srgbClr val="7FAABE"/>
    <a:srgbClr val="B5121B"/>
    <a:srgbClr val="000000"/>
    <a:srgbClr val="4140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348" autoAdjust="0"/>
    <p:restoredTop sz="94789" autoAdjust="0"/>
  </p:normalViewPr>
  <p:slideViewPr>
    <p:cSldViewPr snapToGrid="0">
      <p:cViewPr varScale="1">
        <p:scale>
          <a:sx n="101" d="100"/>
          <a:sy n="101" d="100"/>
        </p:scale>
        <p:origin x="68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42F3E7-441F-477B-9032-3EE7BEB30DA2}" type="datetimeFigureOut">
              <a:rPr lang="en-GB" smtClean="0"/>
              <a:t>07/02/2026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22F0C5-9915-4C9D-B9C1-C3246B8D4C9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79577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Main presentation</a:t>
            </a:r>
            <a:r>
              <a:rPr lang="en-GB" baseline="0" dirty="0"/>
              <a:t> title slide. </a:t>
            </a:r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22F0C5-9915-4C9D-B9C1-C3246B8D4C90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41601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 descr="Red background">
            <a:extLst>
              <a:ext uri="{FF2B5EF4-FFF2-40B4-BE49-F238E27FC236}">
                <a16:creationId xmlns:a16="http://schemas.microsoft.com/office/drawing/2014/main" id="{1EF2C280-F524-405F-B409-A0B3EEB3A76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 userDrawn="1"/>
        </p:nvSpPr>
        <p:spPr>
          <a:xfrm>
            <a:off x="195942" y="195942"/>
            <a:ext cx="11812555" cy="6475445"/>
          </a:xfrm>
          <a:custGeom>
            <a:avLst/>
            <a:gdLst/>
            <a:ahLst/>
            <a:cxnLst/>
            <a:rect l="l" t="t" r="r" b="b"/>
            <a:pathLst>
              <a:path w="12048490" h="6713220">
                <a:moveTo>
                  <a:pt x="0" y="6713004"/>
                </a:moveTo>
                <a:lnTo>
                  <a:pt x="12048210" y="6713004"/>
                </a:lnTo>
                <a:lnTo>
                  <a:pt x="12048210" y="0"/>
                </a:lnTo>
                <a:lnTo>
                  <a:pt x="0" y="0"/>
                </a:lnTo>
                <a:lnTo>
                  <a:pt x="0" y="6713004"/>
                </a:lnTo>
                <a:close/>
              </a:path>
            </a:pathLst>
          </a:custGeom>
          <a:solidFill>
            <a:srgbClr val="B5111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Picture 8" descr="Lancaster University">
            <a:extLst>
              <a:ext uri="{FF2B5EF4-FFF2-40B4-BE49-F238E27FC236}">
                <a16:creationId xmlns:a16="http://schemas.microsoft.com/office/drawing/2014/main" id="{B4C545BB-4FC6-4C07-B4BC-1B3873E92B9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4942" y="762000"/>
            <a:ext cx="2552491" cy="80691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70CF9F2-6D22-4CA4-A596-A6A43B8C793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00940" y="2205022"/>
            <a:ext cx="9144000" cy="1399152"/>
          </a:xfrm>
        </p:spPr>
        <p:txBody>
          <a:bodyPr anchor="b">
            <a:normAutofit/>
          </a:bodyPr>
          <a:lstStyle>
            <a:lvl1pPr algn="l">
              <a:lnSpc>
                <a:spcPts val="4400"/>
              </a:lnSpc>
              <a:spcBef>
                <a:spcPts val="1110"/>
              </a:spcBef>
              <a:defRPr sz="455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Template slide: </a:t>
            </a:r>
            <a:br>
              <a:rPr lang="en-US" dirty="0"/>
            </a:br>
            <a:r>
              <a:rPr lang="en-US" dirty="0"/>
              <a:t>presentation title goes here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01B88C-C94B-424C-B0DC-611AA046862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34338" y="4152381"/>
            <a:ext cx="9144000" cy="1655762"/>
          </a:xfrm>
        </p:spPr>
        <p:txBody>
          <a:bodyPr>
            <a:normAutofit/>
          </a:bodyPr>
          <a:lstStyle>
            <a:lvl1pPr marL="0" indent="0" algn="l">
              <a:lnSpc>
                <a:spcPts val="2800"/>
              </a:lnSpc>
              <a:spcBef>
                <a:spcPts val="525"/>
              </a:spcBef>
              <a:buNone/>
              <a:defRPr sz="265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Insert date, month, year here</a:t>
            </a:r>
          </a:p>
          <a:p>
            <a:r>
              <a:rPr lang="en-US" dirty="0"/>
              <a:t>Insert presenter name</a:t>
            </a:r>
            <a:endParaRPr lang="en-GB" dirty="0"/>
          </a:p>
        </p:txBody>
      </p:sp>
      <p:sp>
        <p:nvSpPr>
          <p:cNvPr id="8" name="object 6">
            <a:extLst>
              <a:ext uri="{FF2B5EF4-FFF2-40B4-BE49-F238E27FC236}">
                <a16:creationId xmlns:a16="http://schemas.microsoft.com/office/drawing/2014/main" id="{4260E1F7-11D6-4F9A-9CDB-A1450D1E497D}"/>
              </a:ext>
            </a:extLst>
          </p:cNvPr>
          <p:cNvSpPr/>
          <p:nvPr userDrawn="1"/>
        </p:nvSpPr>
        <p:spPr>
          <a:xfrm>
            <a:off x="992097" y="3829921"/>
            <a:ext cx="1584325" cy="0"/>
          </a:xfrm>
          <a:custGeom>
            <a:avLst/>
            <a:gdLst/>
            <a:ahLst/>
            <a:cxnLst/>
            <a:rect l="l" t="t" r="r" b="b"/>
            <a:pathLst>
              <a:path w="1584325">
                <a:moveTo>
                  <a:pt x="0" y="0"/>
                </a:moveTo>
                <a:lnTo>
                  <a:pt x="1584159" y="0"/>
                </a:lnTo>
              </a:path>
            </a:pathLst>
          </a:custGeom>
          <a:ln w="16929">
            <a:solidFill>
              <a:srgbClr val="A6ADB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6">
            <a:extLst>
              <a:ext uri="{FF2B5EF4-FFF2-40B4-BE49-F238E27FC236}">
                <a16:creationId xmlns:a16="http://schemas.microsoft.com/office/drawing/2014/main" id="{BCDE62AB-9720-4075-A15D-483E19C7DA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71922" y="3832747"/>
            <a:ext cx="1590675" cy="0"/>
          </a:xfrm>
          <a:custGeom>
            <a:avLst/>
            <a:gdLst/>
            <a:ahLst/>
            <a:cxnLst/>
            <a:rect l="l" t="t" r="r" b="b"/>
            <a:pathLst>
              <a:path w="1590675">
                <a:moveTo>
                  <a:pt x="0" y="0"/>
                </a:moveTo>
                <a:lnTo>
                  <a:pt x="1590421" y="0"/>
                </a:lnTo>
              </a:path>
            </a:pathLst>
          </a:custGeom>
          <a:ln w="17043">
            <a:solidFill>
              <a:srgbClr val="A6ADB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7BD4E107-ACD4-4A6A-8618-FDF878C3B9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55058" y="609298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6998E55D-8E2A-4AFE-A61C-B5DBBB7761E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46977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CF9F2-6D22-4CA4-A596-A6A43B8C793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00940" y="2205022"/>
            <a:ext cx="9144000" cy="1399152"/>
          </a:xfrm>
        </p:spPr>
        <p:txBody>
          <a:bodyPr anchor="b">
            <a:normAutofit/>
          </a:bodyPr>
          <a:lstStyle>
            <a:lvl1pPr algn="l">
              <a:lnSpc>
                <a:spcPts val="4400"/>
              </a:lnSpc>
              <a:spcBef>
                <a:spcPts val="1110"/>
              </a:spcBef>
              <a:defRPr sz="4550">
                <a:solidFill>
                  <a:srgbClr val="B5121B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Template slide: </a:t>
            </a:r>
            <a:br>
              <a:rPr lang="en-US" dirty="0"/>
            </a:br>
            <a:r>
              <a:rPr lang="en-US" dirty="0"/>
              <a:t>presentation title goes here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01B88C-C94B-424C-B0DC-611AA046862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34338" y="4152381"/>
            <a:ext cx="9144000" cy="1655762"/>
          </a:xfrm>
        </p:spPr>
        <p:txBody>
          <a:bodyPr>
            <a:normAutofit/>
          </a:bodyPr>
          <a:lstStyle>
            <a:lvl1pPr marL="0" indent="0" algn="l">
              <a:lnSpc>
                <a:spcPts val="2800"/>
              </a:lnSpc>
              <a:spcBef>
                <a:spcPts val="525"/>
              </a:spcBef>
              <a:buNone/>
              <a:defRPr sz="265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Insert date, month, year here</a:t>
            </a:r>
          </a:p>
          <a:p>
            <a:r>
              <a:rPr lang="en-US" dirty="0"/>
              <a:t>Insert presenter name</a:t>
            </a:r>
            <a:endParaRPr lang="en-GB" dirty="0"/>
          </a:p>
        </p:txBody>
      </p:sp>
      <p:pic>
        <p:nvPicPr>
          <p:cNvPr id="7" name="Picture 6" descr="Lancaster University">
            <a:extLst>
              <a:ext uri="{FF2B5EF4-FFF2-40B4-BE49-F238E27FC236}">
                <a16:creationId xmlns:a16="http://schemas.microsoft.com/office/drawing/2014/main" id="{2528AF01-8AC0-4C10-8386-19F11482E59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6682" y="762000"/>
            <a:ext cx="2565317" cy="810971"/>
          </a:xfrm>
          <a:prstGeom prst="rect">
            <a:avLst/>
          </a:prstGeom>
        </p:spPr>
      </p:pic>
      <p:sp>
        <p:nvSpPr>
          <p:cNvPr id="8" name="object 6">
            <a:extLst>
              <a:ext uri="{FF2B5EF4-FFF2-40B4-BE49-F238E27FC236}">
                <a16:creationId xmlns:a16="http://schemas.microsoft.com/office/drawing/2014/main" id="{4260E1F7-11D6-4F9A-9CDB-A1450D1E49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92097" y="3829921"/>
            <a:ext cx="1584325" cy="0"/>
          </a:xfrm>
          <a:custGeom>
            <a:avLst/>
            <a:gdLst/>
            <a:ahLst/>
            <a:cxnLst/>
            <a:rect l="l" t="t" r="r" b="b"/>
            <a:pathLst>
              <a:path w="1584325">
                <a:moveTo>
                  <a:pt x="0" y="0"/>
                </a:moveTo>
                <a:lnTo>
                  <a:pt x="1584159" y="0"/>
                </a:lnTo>
              </a:path>
            </a:pathLst>
          </a:custGeom>
          <a:ln w="16929">
            <a:solidFill>
              <a:srgbClr val="A6ADB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195C828A-191B-48BF-BB4A-DF202F883D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55058" y="609298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414042"/>
                </a:solidFill>
              </a:defRPr>
            </a:lvl1pPr>
          </a:lstStyle>
          <a:p>
            <a:fld id="{6998E55D-8E2A-4AFE-A61C-B5DBBB7761E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5682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CF9F2-6D22-4CA4-A596-A6A43B8C793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00940" y="2205022"/>
            <a:ext cx="9144000" cy="1399152"/>
          </a:xfrm>
        </p:spPr>
        <p:txBody>
          <a:bodyPr anchor="b">
            <a:normAutofit/>
          </a:bodyPr>
          <a:lstStyle>
            <a:lvl1pPr algn="l">
              <a:lnSpc>
                <a:spcPts val="4400"/>
              </a:lnSpc>
              <a:spcBef>
                <a:spcPts val="1110"/>
              </a:spcBef>
              <a:defRPr sz="4550">
                <a:solidFill>
                  <a:srgbClr val="B5121B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Template slide: </a:t>
            </a:r>
            <a:br>
              <a:rPr lang="en-US" dirty="0"/>
            </a:br>
            <a:r>
              <a:rPr lang="en-US" dirty="0"/>
              <a:t>presentation title goes here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01B88C-C94B-424C-B0DC-611AA046862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34338" y="4152381"/>
            <a:ext cx="9144000" cy="1655762"/>
          </a:xfrm>
        </p:spPr>
        <p:txBody>
          <a:bodyPr>
            <a:normAutofit/>
          </a:bodyPr>
          <a:lstStyle>
            <a:lvl1pPr marL="0" indent="0" algn="l">
              <a:lnSpc>
                <a:spcPts val="2800"/>
              </a:lnSpc>
              <a:spcBef>
                <a:spcPts val="525"/>
              </a:spcBef>
              <a:buNone/>
              <a:defRPr sz="265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Insert date, month, year here</a:t>
            </a:r>
          </a:p>
          <a:p>
            <a:r>
              <a:rPr lang="en-US" dirty="0"/>
              <a:t>Insert presenter name</a:t>
            </a:r>
            <a:endParaRPr lang="en-GB" dirty="0"/>
          </a:p>
        </p:txBody>
      </p:sp>
      <p:pic>
        <p:nvPicPr>
          <p:cNvPr id="7" name="Picture 6" descr="Lancaster University">
            <a:extLst>
              <a:ext uri="{FF2B5EF4-FFF2-40B4-BE49-F238E27FC236}">
                <a16:creationId xmlns:a16="http://schemas.microsoft.com/office/drawing/2014/main" id="{2528AF01-8AC0-4C10-8386-19F11482E59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6682" y="762000"/>
            <a:ext cx="2565317" cy="810971"/>
          </a:xfrm>
          <a:prstGeom prst="rect">
            <a:avLst/>
          </a:prstGeom>
        </p:spPr>
      </p:pic>
      <p:sp>
        <p:nvSpPr>
          <p:cNvPr id="8" name="object 6">
            <a:extLst>
              <a:ext uri="{FF2B5EF4-FFF2-40B4-BE49-F238E27FC236}">
                <a16:creationId xmlns:a16="http://schemas.microsoft.com/office/drawing/2014/main" id="{4260E1F7-11D6-4F9A-9CDB-A1450D1E49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92097" y="3829921"/>
            <a:ext cx="1584325" cy="0"/>
          </a:xfrm>
          <a:custGeom>
            <a:avLst/>
            <a:gdLst/>
            <a:ahLst/>
            <a:cxnLst/>
            <a:rect l="l" t="t" r="r" b="b"/>
            <a:pathLst>
              <a:path w="1584325">
                <a:moveTo>
                  <a:pt x="0" y="0"/>
                </a:moveTo>
                <a:lnTo>
                  <a:pt x="1584159" y="0"/>
                </a:lnTo>
              </a:path>
            </a:pathLst>
          </a:custGeom>
          <a:ln w="16929">
            <a:solidFill>
              <a:srgbClr val="A6ADB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8" descr="University Academy 92 Manchester">
            <a:extLst>
              <a:ext uri="{FF2B5EF4-FFF2-40B4-BE49-F238E27FC236}">
                <a16:creationId xmlns:a16="http://schemas.microsoft.com/office/drawing/2014/main" id="{97C89DA9-7708-4EE0-9C2E-17C843B198F5}"/>
              </a:ext>
            </a:extLst>
          </p:cNvPr>
          <p:cNvSpPr/>
          <p:nvPr userDrawn="1"/>
        </p:nvSpPr>
        <p:spPr>
          <a:xfrm>
            <a:off x="6888886" y="697941"/>
            <a:ext cx="1481137" cy="7776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 descr="Blackburn College">
            <a:extLst>
              <a:ext uri="{FF2B5EF4-FFF2-40B4-BE49-F238E27FC236}">
                <a16:creationId xmlns:a16="http://schemas.microsoft.com/office/drawing/2014/main" id="{B2D8FC4D-6A10-4AFC-90EE-36BEDC612D9F}"/>
              </a:ext>
            </a:extLst>
          </p:cNvPr>
          <p:cNvSpPr/>
          <p:nvPr userDrawn="1"/>
        </p:nvSpPr>
        <p:spPr>
          <a:xfrm>
            <a:off x="4800858" y="717994"/>
            <a:ext cx="1763493" cy="61794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 descr="Blackpool &amp; The Fylde college">
            <a:extLst>
              <a:ext uri="{FF2B5EF4-FFF2-40B4-BE49-F238E27FC236}">
                <a16:creationId xmlns:a16="http://schemas.microsoft.com/office/drawing/2014/main" id="{74C67722-6D8E-4717-BBA0-D9603159F8C3}"/>
              </a:ext>
            </a:extLst>
          </p:cNvPr>
          <p:cNvSpPr/>
          <p:nvPr userDrawn="1"/>
        </p:nvSpPr>
        <p:spPr>
          <a:xfrm>
            <a:off x="2927182" y="665080"/>
            <a:ext cx="1543981" cy="64248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 descr="Furness college">
            <a:extLst>
              <a:ext uri="{FF2B5EF4-FFF2-40B4-BE49-F238E27FC236}">
                <a16:creationId xmlns:a16="http://schemas.microsoft.com/office/drawing/2014/main" id="{544291F1-FBE8-4BF5-82D3-3E12A047DE75}"/>
              </a:ext>
            </a:extLst>
          </p:cNvPr>
          <p:cNvSpPr/>
          <p:nvPr userDrawn="1"/>
        </p:nvSpPr>
        <p:spPr>
          <a:xfrm>
            <a:off x="891120" y="700908"/>
            <a:ext cx="1786115" cy="69955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FB57897E-9B28-47E3-BC7F-FA671A1687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55058" y="609298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414042"/>
                </a:solidFill>
              </a:defRPr>
            </a:lvl1pPr>
          </a:lstStyle>
          <a:p>
            <a:fld id="{6998E55D-8E2A-4AFE-A61C-B5DBBB7761E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46362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2" descr="Blue background">
            <a:extLst>
              <a:ext uri="{FF2B5EF4-FFF2-40B4-BE49-F238E27FC236}">
                <a16:creationId xmlns:a16="http://schemas.microsoft.com/office/drawing/2014/main" id="{35A2C7DA-9587-4F85-9BC4-F30F0308AA7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 userDrawn="1"/>
        </p:nvSpPr>
        <p:spPr>
          <a:xfrm>
            <a:off x="185057" y="181946"/>
            <a:ext cx="11821886" cy="6494107"/>
          </a:xfrm>
          <a:custGeom>
            <a:avLst/>
            <a:gdLst/>
            <a:ahLst/>
            <a:cxnLst/>
            <a:rect l="l" t="t" r="r" b="b"/>
            <a:pathLst>
              <a:path w="12049125" h="6713855">
                <a:moveTo>
                  <a:pt x="0" y="6713410"/>
                </a:moveTo>
                <a:lnTo>
                  <a:pt x="12048617" y="6713410"/>
                </a:lnTo>
                <a:lnTo>
                  <a:pt x="12048617" y="0"/>
                </a:lnTo>
                <a:lnTo>
                  <a:pt x="0" y="0"/>
                </a:lnTo>
                <a:lnTo>
                  <a:pt x="0" y="6713410"/>
                </a:lnTo>
                <a:close/>
              </a:path>
            </a:pathLst>
          </a:custGeom>
          <a:solidFill>
            <a:srgbClr val="709BAF"/>
          </a:solidFill>
        </p:spPr>
        <p:txBody>
          <a:bodyPr wrap="square" lIns="0" tIns="0" rIns="0" bIns="0" rtlCol="0"/>
          <a:lstStyle/>
          <a:p>
            <a:endParaRPr>
              <a:solidFill>
                <a:schemeClr val="bg1"/>
              </a:solidFill>
            </a:endParaRPr>
          </a:p>
        </p:txBody>
      </p:sp>
      <p:pic>
        <p:nvPicPr>
          <p:cNvPr id="9" name="Picture 8" descr="Lancaster University">
            <a:extLst>
              <a:ext uri="{FF2B5EF4-FFF2-40B4-BE49-F238E27FC236}">
                <a16:creationId xmlns:a16="http://schemas.microsoft.com/office/drawing/2014/main" id="{B4C545BB-4FC6-4C07-B4BC-1B3873E92B9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4942" y="762000"/>
            <a:ext cx="2552491" cy="80691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70CF9F2-6D22-4CA4-A596-A6A43B8C793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00940" y="2205022"/>
            <a:ext cx="9144000" cy="1399152"/>
          </a:xfrm>
        </p:spPr>
        <p:txBody>
          <a:bodyPr anchor="b">
            <a:normAutofit/>
          </a:bodyPr>
          <a:lstStyle>
            <a:lvl1pPr algn="l">
              <a:lnSpc>
                <a:spcPts val="4400"/>
              </a:lnSpc>
              <a:spcBef>
                <a:spcPts val="1110"/>
              </a:spcBef>
              <a:defRPr sz="455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Template slide: </a:t>
            </a:r>
            <a:br>
              <a:rPr lang="en-US" dirty="0"/>
            </a:br>
            <a:r>
              <a:rPr lang="en-US" dirty="0"/>
              <a:t>section title goes here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01B88C-C94B-424C-B0DC-611AA046862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34338" y="4152381"/>
            <a:ext cx="9144000" cy="1655762"/>
          </a:xfrm>
        </p:spPr>
        <p:txBody>
          <a:bodyPr>
            <a:normAutofit/>
          </a:bodyPr>
          <a:lstStyle>
            <a:lvl1pPr marL="0" indent="0" algn="l">
              <a:lnSpc>
                <a:spcPts val="2800"/>
              </a:lnSpc>
              <a:spcBef>
                <a:spcPts val="525"/>
              </a:spcBef>
              <a:buNone/>
              <a:defRPr sz="265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Insert date, month, year here</a:t>
            </a:r>
          </a:p>
          <a:p>
            <a:r>
              <a:rPr lang="en-US" dirty="0"/>
              <a:t>Insert presenter name</a:t>
            </a:r>
            <a:endParaRPr lang="en-GB" dirty="0"/>
          </a:p>
        </p:txBody>
      </p:sp>
      <p:sp>
        <p:nvSpPr>
          <p:cNvPr id="8" name="object 6">
            <a:extLst>
              <a:ext uri="{FF2B5EF4-FFF2-40B4-BE49-F238E27FC236}">
                <a16:creationId xmlns:a16="http://schemas.microsoft.com/office/drawing/2014/main" id="{4260E1F7-11D6-4F9A-9CDB-A1450D1E497D}"/>
              </a:ext>
            </a:extLst>
          </p:cNvPr>
          <p:cNvSpPr/>
          <p:nvPr userDrawn="1"/>
        </p:nvSpPr>
        <p:spPr>
          <a:xfrm>
            <a:off x="992097" y="3829921"/>
            <a:ext cx="1584325" cy="0"/>
          </a:xfrm>
          <a:custGeom>
            <a:avLst/>
            <a:gdLst/>
            <a:ahLst/>
            <a:cxnLst/>
            <a:rect l="l" t="t" r="r" b="b"/>
            <a:pathLst>
              <a:path w="1584325">
                <a:moveTo>
                  <a:pt x="0" y="0"/>
                </a:moveTo>
                <a:lnTo>
                  <a:pt x="1584159" y="0"/>
                </a:lnTo>
              </a:path>
            </a:pathLst>
          </a:custGeom>
          <a:ln w="16929">
            <a:solidFill>
              <a:srgbClr val="A6ADB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6">
            <a:extLst>
              <a:ext uri="{FF2B5EF4-FFF2-40B4-BE49-F238E27FC236}">
                <a16:creationId xmlns:a16="http://schemas.microsoft.com/office/drawing/2014/main" id="{BCDE62AB-9720-4075-A15D-483E19C7DA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71922" y="3832747"/>
            <a:ext cx="1590675" cy="0"/>
          </a:xfrm>
          <a:custGeom>
            <a:avLst/>
            <a:gdLst/>
            <a:ahLst/>
            <a:cxnLst/>
            <a:rect l="l" t="t" r="r" b="b"/>
            <a:pathLst>
              <a:path w="1590675">
                <a:moveTo>
                  <a:pt x="0" y="0"/>
                </a:moveTo>
                <a:lnTo>
                  <a:pt x="1590421" y="0"/>
                </a:lnTo>
              </a:path>
            </a:pathLst>
          </a:custGeom>
          <a:ln w="17043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5B6FFB34-2A03-4DFF-8F1A-D7E69F6F82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55058" y="609298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6998E55D-8E2A-4AFE-A61C-B5DBBB7761E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75931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6C40D-D6BC-4D4D-AF4C-44A15AE97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3773" y="475866"/>
            <a:ext cx="8250058" cy="1224153"/>
          </a:xfrm>
        </p:spPr>
        <p:txBody>
          <a:bodyPr>
            <a:normAutofit/>
          </a:bodyPr>
          <a:lstStyle>
            <a:lvl1pPr>
              <a:lnSpc>
                <a:spcPts val="3470"/>
              </a:lnSpc>
              <a:spcBef>
                <a:spcPts val="750"/>
              </a:spcBef>
              <a:defRPr sz="3600">
                <a:solidFill>
                  <a:srgbClr val="B5121B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D462D4-273F-48E4-BC67-135E64C379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3773" y="2313991"/>
            <a:ext cx="9808029" cy="3862971"/>
          </a:xfrm>
        </p:spPr>
        <p:txBody>
          <a:bodyPr/>
          <a:lstStyle>
            <a:lvl1pPr>
              <a:buClr>
                <a:srgbClr val="AEB4B9"/>
              </a:buClr>
              <a:defRPr sz="2600">
                <a:solidFill>
                  <a:schemeClr val="tx1"/>
                </a:solidFill>
              </a:defRPr>
            </a:lvl1pPr>
            <a:lvl2pPr>
              <a:buClr>
                <a:srgbClr val="AEB4B9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AEB4B9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AEB4B9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AEB4B9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A95A3A47-0757-4333-ACCD-258450620A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1766" y="1841477"/>
            <a:ext cx="1584325" cy="0"/>
          </a:xfrm>
          <a:custGeom>
            <a:avLst/>
            <a:gdLst/>
            <a:ahLst/>
            <a:cxnLst/>
            <a:rect l="l" t="t" r="r" b="b"/>
            <a:pathLst>
              <a:path w="1584325">
                <a:moveTo>
                  <a:pt x="0" y="0"/>
                </a:moveTo>
                <a:lnTo>
                  <a:pt x="1583728" y="0"/>
                </a:lnTo>
              </a:path>
            </a:pathLst>
          </a:custGeom>
          <a:ln w="16929">
            <a:solidFill>
              <a:srgbClr val="A6ADB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DE9228C-9B11-4DC9-8F13-D4D1ED507A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55058" y="609298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414042"/>
                </a:solidFill>
              </a:defRPr>
            </a:lvl1pPr>
          </a:lstStyle>
          <a:p>
            <a:fld id="{6998E55D-8E2A-4AFE-A61C-B5DBBB7761E7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4" name="Picture 13" descr="Lancaster University">
            <a:extLst>
              <a:ext uri="{FF2B5EF4-FFF2-40B4-BE49-F238E27FC236}">
                <a16:creationId xmlns:a16="http://schemas.microsoft.com/office/drawing/2014/main" id="{0D9761CB-0BB4-44A2-BF26-F0470B4DCFE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4359" y="762000"/>
            <a:ext cx="2098889" cy="66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7377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D462D4-273F-48E4-BC67-135E64C3792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72883" y="2313991"/>
            <a:ext cx="9742714" cy="3862971"/>
          </a:xfrm>
        </p:spPr>
        <p:txBody>
          <a:bodyPr/>
          <a:lstStyle>
            <a:lvl1pPr marL="0" indent="0">
              <a:spcAft>
                <a:spcPts val="600"/>
              </a:spcAft>
              <a:buClr>
                <a:srgbClr val="AEB4B9"/>
              </a:buClr>
              <a:buNone/>
              <a:defRPr sz="2600" i="0">
                <a:solidFill>
                  <a:schemeClr val="tx1"/>
                </a:solidFill>
              </a:defRPr>
            </a:lvl1pPr>
            <a:lvl2pPr>
              <a:buClr>
                <a:srgbClr val="AEB4B9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AEB4B9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AEB4B9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AEB4B9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Template slide: text only (use italics for sub-headings)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659C926E-B465-430E-9BB4-30F751A3E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3773" y="475866"/>
            <a:ext cx="8040738" cy="1224153"/>
          </a:xfrm>
        </p:spPr>
        <p:txBody>
          <a:bodyPr>
            <a:normAutofit/>
          </a:bodyPr>
          <a:lstStyle>
            <a:lvl1pPr>
              <a:lnSpc>
                <a:spcPts val="3470"/>
              </a:lnSpc>
              <a:spcBef>
                <a:spcPts val="750"/>
              </a:spcBef>
              <a:defRPr sz="3600">
                <a:solidFill>
                  <a:srgbClr val="B5121B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3" name="object 4">
            <a:extLst>
              <a:ext uri="{FF2B5EF4-FFF2-40B4-BE49-F238E27FC236}">
                <a16:creationId xmlns:a16="http://schemas.microsoft.com/office/drawing/2014/main" id="{0BDBDF81-CC4C-4516-B38C-887511BA3E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1766" y="1841477"/>
            <a:ext cx="1584325" cy="0"/>
          </a:xfrm>
          <a:custGeom>
            <a:avLst/>
            <a:gdLst/>
            <a:ahLst/>
            <a:cxnLst/>
            <a:rect l="l" t="t" r="r" b="b"/>
            <a:pathLst>
              <a:path w="1584325">
                <a:moveTo>
                  <a:pt x="0" y="0"/>
                </a:moveTo>
                <a:lnTo>
                  <a:pt x="1583728" y="0"/>
                </a:lnTo>
              </a:path>
            </a:pathLst>
          </a:custGeom>
          <a:ln w="16929">
            <a:solidFill>
              <a:srgbClr val="A6ADB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31E803A-17E5-4587-B9C8-543F40CC18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55058" y="610231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414042"/>
                </a:solidFill>
              </a:defRPr>
            </a:lvl1pPr>
          </a:lstStyle>
          <a:p>
            <a:fld id="{6998E55D-8E2A-4AFE-A61C-B5DBBB7761E7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7" name="Picture 16" descr="Lancaster University">
            <a:extLst>
              <a:ext uri="{FF2B5EF4-FFF2-40B4-BE49-F238E27FC236}">
                <a16:creationId xmlns:a16="http://schemas.microsoft.com/office/drawing/2014/main" id="{15D4E1DC-C857-4EB7-8E98-3A0E76300C4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4359" y="762000"/>
            <a:ext cx="2098889" cy="66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5719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575D8C4-2991-4037-8748-66E7016A65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00940" y="2205022"/>
            <a:ext cx="9913240" cy="1399152"/>
          </a:xfrm>
        </p:spPr>
        <p:txBody>
          <a:bodyPr anchor="b">
            <a:normAutofit/>
          </a:bodyPr>
          <a:lstStyle>
            <a:lvl1pPr algn="l">
              <a:lnSpc>
                <a:spcPts val="4400"/>
              </a:lnSpc>
              <a:spcBef>
                <a:spcPts val="1110"/>
              </a:spcBef>
              <a:defRPr sz="4550">
                <a:solidFill>
                  <a:srgbClr val="B5121B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Add question text here</a:t>
            </a:r>
            <a:endParaRPr lang="en-GB" dirty="0"/>
          </a:p>
        </p:txBody>
      </p:sp>
      <p:pic>
        <p:nvPicPr>
          <p:cNvPr id="8" name="Picture 7" descr="Lancaster University">
            <a:extLst>
              <a:ext uri="{FF2B5EF4-FFF2-40B4-BE49-F238E27FC236}">
                <a16:creationId xmlns:a16="http://schemas.microsoft.com/office/drawing/2014/main" id="{5A0CDDDE-2A8D-4F00-B876-791A126CBD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4359" y="762000"/>
            <a:ext cx="2098889" cy="663520"/>
          </a:xfrm>
          <a:prstGeom prst="rect">
            <a:avLst/>
          </a:prstGeom>
        </p:spPr>
      </p:pic>
      <p:sp>
        <p:nvSpPr>
          <p:cNvPr id="9" name="object 5">
            <a:extLst>
              <a:ext uri="{FF2B5EF4-FFF2-40B4-BE49-F238E27FC236}">
                <a16:creationId xmlns:a16="http://schemas.microsoft.com/office/drawing/2014/main" id="{A1F40E0C-FCFE-45A8-B4CD-8E1C0339D4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92097" y="3830968"/>
            <a:ext cx="1584325" cy="0"/>
          </a:xfrm>
          <a:custGeom>
            <a:avLst/>
            <a:gdLst/>
            <a:ahLst/>
            <a:cxnLst/>
            <a:rect l="l" t="t" r="r" b="b"/>
            <a:pathLst>
              <a:path w="1584325">
                <a:moveTo>
                  <a:pt x="0" y="0"/>
                </a:moveTo>
                <a:lnTo>
                  <a:pt x="1584159" y="0"/>
                </a:lnTo>
              </a:path>
            </a:pathLst>
          </a:custGeom>
          <a:ln w="16929">
            <a:solidFill>
              <a:srgbClr val="A6ADB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F55EE488-FA38-4ABE-A8A1-1C0A496D55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55058" y="609298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414042"/>
                </a:solidFill>
              </a:defRPr>
            </a:lvl1pPr>
          </a:lstStyle>
          <a:p>
            <a:fld id="{6998E55D-8E2A-4AFE-A61C-B5DBBB7761E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2925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EAACC63-D887-40E8-8239-FD16AE528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538" y="522516"/>
            <a:ext cx="7568682" cy="1168172"/>
          </a:xfrm>
        </p:spPr>
        <p:txBody>
          <a:bodyPr>
            <a:normAutofit/>
          </a:bodyPr>
          <a:lstStyle>
            <a:lvl1pPr>
              <a:lnSpc>
                <a:spcPts val="3470"/>
              </a:lnSpc>
              <a:spcBef>
                <a:spcPts val="750"/>
              </a:spcBef>
              <a:defRPr sz="3600">
                <a:solidFill>
                  <a:srgbClr val="B5121B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24D0BDC-AEAF-40AB-BD13-7775E20370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9538" y="2313991"/>
            <a:ext cx="4965441" cy="3862971"/>
          </a:xfrm>
        </p:spPr>
        <p:txBody>
          <a:bodyPr/>
          <a:lstStyle>
            <a:lvl1pPr>
              <a:buClr>
                <a:srgbClr val="AEB4B9"/>
              </a:buClr>
              <a:defRPr sz="2600">
                <a:solidFill>
                  <a:schemeClr val="tx1"/>
                </a:solidFill>
              </a:defRPr>
            </a:lvl1pPr>
            <a:lvl2pPr>
              <a:buClr>
                <a:srgbClr val="AEB4B9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AEB4B9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AEB4B9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AEB4B9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object 4">
            <a:extLst>
              <a:ext uri="{FF2B5EF4-FFF2-40B4-BE49-F238E27FC236}">
                <a16:creationId xmlns:a16="http://schemas.microsoft.com/office/drawing/2014/main" id="{81B46DBF-1B89-405C-A53C-EE0D38B3C8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54508" y="1832146"/>
            <a:ext cx="1584325" cy="0"/>
          </a:xfrm>
          <a:custGeom>
            <a:avLst/>
            <a:gdLst/>
            <a:ahLst/>
            <a:cxnLst/>
            <a:rect l="l" t="t" r="r" b="b"/>
            <a:pathLst>
              <a:path w="1584325">
                <a:moveTo>
                  <a:pt x="0" y="0"/>
                </a:moveTo>
                <a:lnTo>
                  <a:pt x="1583728" y="0"/>
                </a:lnTo>
              </a:path>
            </a:pathLst>
          </a:custGeom>
          <a:ln w="16929">
            <a:solidFill>
              <a:srgbClr val="A6ADB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9DC973B-EFE1-44F1-9FB7-36E4227439C7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369696" y="2317095"/>
            <a:ext cx="4965442" cy="3862971"/>
          </a:xfrm>
        </p:spPr>
        <p:txBody>
          <a:bodyPr/>
          <a:lstStyle>
            <a:lvl1pPr>
              <a:buClr>
                <a:srgbClr val="AEB4B9"/>
              </a:buClr>
              <a:defRPr sz="2600">
                <a:solidFill>
                  <a:schemeClr val="tx1"/>
                </a:solidFill>
              </a:defRPr>
            </a:lvl1pPr>
            <a:lvl2pPr>
              <a:buClr>
                <a:srgbClr val="AEB4B9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AEB4B9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AEB4B9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AEB4B9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749C0CEC-03F4-4704-9D20-E00E4CD065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55058" y="609298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414042"/>
                </a:solidFill>
              </a:defRPr>
            </a:lvl1pPr>
          </a:lstStyle>
          <a:p>
            <a:fld id="{6998E55D-8E2A-4AFE-A61C-B5DBBB7761E7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21" name="Picture 20" descr="Lancaster University">
            <a:extLst>
              <a:ext uri="{FF2B5EF4-FFF2-40B4-BE49-F238E27FC236}">
                <a16:creationId xmlns:a16="http://schemas.microsoft.com/office/drawing/2014/main" id="{607635CB-A9C5-437C-8837-4C730E8C637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4359" y="762000"/>
            <a:ext cx="2098889" cy="66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9339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75887E-4F05-4593-B389-647D40DD03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4647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C9B9D8-EA34-4852-A458-9C736D59E6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6478" y="2505075"/>
            <a:ext cx="5157787" cy="3684588"/>
          </a:xfrm>
        </p:spPr>
        <p:txBody>
          <a:bodyPr/>
          <a:lstStyle>
            <a:lvl1pPr>
              <a:buClr>
                <a:srgbClr val="AEB4B9"/>
              </a:buClr>
              <a:defRPr sz="2600"/>
            </a:lvl1pPr>
            <a:lvl2pPr>
              <a:buClr>
                <a:srgbClr val="AEB4B9"/>
              </a:buClr>
              <a:defRPr/>
            </a:lvl2pPr>
            <a:lvl3pPr>
              <a:buClr>
                <a:srgbClr val="AEB4B9"/>
              </a:buClr>
              <a:defRPr/>
            </a:lvl3pPr>
            <a:lvl4pPr>
              <a:buClr>
                <a:srgbClr val="AEB4B9"/>
              </a:buClr>
              <a:defRPr/>
            </a:lvl4pPr>
            <a:lvl5pPr>
              <a:buClr>
                <a:srgbClr val="AEB4B9"/>
              </a:buClr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3E91B9-1447-4EAE-9AB6-9200E96A98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105AF1-67AB-413D-B37A-83B233A5D7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buClr>
                <a:srgbClr val="AEB4B9"/>
              </a:buClr>
              <a:defRPr sz="2600"/>
            </a:lvl1pPr>
            <a:lvl2pPr>
              <a:buClr>
                <a:srgbClr val="AEB4B9"/>
              </a:buClr>
              <a:defRPr/>
            </a:lvl2pPr>
            <a:lvl3pPr>
              <a:buClr>
                <a:srgbClr val="AEB4B9"/>
              </a:buClr>
              <a:defRPr/>
            </a:lvl3pPr>
            <a:lvl4pPr>
              <a:buClr>
                <a:srgbClr val="AEB4B9"/>
              </a:buClr>
              <a:defRPr/>
            </a:lvl4pPr>
            <a:lvl5pPr>
              <a:buClr>
                <a:srgbClr val="AEB4B9"/>
              </a:buClr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BFEF35C-6404-4538-8F34-0A8878183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559" y="531848"/>
            <a:ext cx="7568682" cy="1158840"/>
          </a:xfrm>
        </p:spPr>
        <p:txBody>
          <a:bodyPr>
            <a:normAutofit/>
          </a:bodyPr>
          <a:lstStyle>
            <a:lvl1pPr>
              <a:lnSpc>
                <a:spcPts val="3470"/>
              </a:lnSpc>
              <a:spcBef>
                <a:spcPts val="750"/>
              </a:spcBef>
              <a:defRPr sz="3600">
                <a:solidFill>
                  <a:srgbClr val="B5121B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3" name="object 4">
            <a:extLst>
              <a:ext uri="{FF2B5EF4-FFF2-40B4-BE49-F238E27FC236}">
                <a16:creationId xmlns:a16="http://schemas.microsoft.com/office/drawing/2014/main" id="{3D487BA0-3AE0-4031-8055-C6AFDC31E0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35846" y="1832146"/>
            <a:ext cx="1584325" cy="0"/>
          </a:xfrm>
          <a:custGeom>
            <a:avLst/>
            <a:gdLst/>
            <a:ahLst/>
            <a:cxnLst/>
            <a:rect l="l" t="t" r="r" b="b"/>
            <a:pathLst>
              <a:path w="1584325">
                <a:moveTo>
                  <a:pt x="0" y="0"/>
                </a:moveTo>
                <a:lnTo>
                  <a:pt x="1583728" y="0"/>
                </a:lnTo>
              </a:path>
            </a:pathLst>
          </a:custGeom>
          <a:ln w="16929">
            <a:solidFill>
              <a:srgbClr val="A6ADB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983E33A9-9C13-43F2-93A7-5CD7A6D522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955058" y="609298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414042"/>
                </a:solidFill>
              </a:defRPr>
            </a:lvl1pPr>
          </a:lstStyle>
          <a:p>
            <a:fld id="{6998E55D-8E2A-4AFE-A61C-B5DBBB7761E7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7" name="Picture 16" descr="Lancaster University">
            <a:extLst>
              <a:ext uri="{FF2B5EF4-FFF2-40B4-BE49-F238E27FC236}">
                <a16:creationId xmlns:a16="http://schemas.microsoft.com/office/drawing/2014/main" id="{24641CFC-5847-40DB-B4F0-5496D257DA5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4359" y="762000"/>
            <a:ext cx="2098889" cy="66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13404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4">
            <a:extLst>
              <a:ext uri="{FF2B5EF4-FFF2-40B4-BE49-F238E27FC236}">
                <a16:creationId xmlns:a16="http://schemas.microsoft.com/office/drawing/2014/main" id="{E911A0A4-9D31-4F34-8E71-4A07A9FDE9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54508" y="1832146"/>
            <a:ext cx="1584325" cy="0"/>
          </a:xfrm>
          <a:custGeom>
            <a:avLst/>
            <a:gdLst/>
            <a:ahLst/>
            <a:cxnLst/>
            <a:rect l="l" t="t" r="r" b="b"/>
            <a:pathLst>
              <a:path w="1584325">
                <a:moveTo>
                  <a:pt x="0" y="0"/>
                </a:moveTo>
                <a:lnTo>
                  <a:pt x="1583728" y="0"/>
                </a:lnTo>
              </a:path>
            </a:pathLst>
          </a:custGeom>
          <a:ln w="16929">
            <a:solidFill>
              <a:srgbClr val="A6ADB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DBE2592A-4048-4211-B609-EB603E5AE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559" y="531848"/>
            <a:ext cx="7568682" cy="1158840"/>
          </a:xfrm>
        </p:spPr>
        <p:txBody>
          <a:bodyPr>
            <a:normAutofit/>
          </a:bodyPr>
          <a:lstStyle>
            <a:lvl1pPr>
              <a:lnSpc>
                <a:spcPts val="3470"/>
              </a:lnSpc>
              <a:spcBef>
                <a:spcPts val="750"/>
              </a:spcBef>
              <a:defRPr sz="3600">
                <a:solidFill>
                  <a:srgbClr val="B5121B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432CECB2-8BBC-4238-95E4-9CF53BEC0F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55058" y="609298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414042"/>
                </a:solidFill>
              </a:defRPr>
            </a:lvl1pPr>
          </a:lstStyle>
          <a:p>
            <a:fld id="{6998E55D-8E2A-4AFE-A61C-B5DBBB7761E7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5" name="Picture 14" descr="Lancaster University">
            <a:extLst>
              <a:ext uri="{FF2B5EF4-FFF2-40B4-BE49-F238E27FC236}">
                <a16:creationId xmlns:a16="http://schemas.microsoft.com/office/drawing/2014/main" id="{F43189D6-09CC-4664-8F2F-E317A914F4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4359" y="762000"/>
            <a:ext cx="2098889" cy="66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8879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AEB81DE-9DB5-4365-A5C5-617C96B6EE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55058" y="609298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414042"/>
                </a:solidFill>
              </a:defRPr>
            </a:lvl1pPr>
          </a:lstStyle>
          <a:p>
            <a:fld id="{6998E55D-8E2A-4AFE-A61C-B5DBBB7761E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6350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k object 16">
            <a:extLst>
              <a:ext uri="{FF2B5EF4-FFF2-40B4-BE49-F238E27FC236}">
                <a16:creationId xmlns:a16="http://schemas.microsoft.com/office/drawing/2014/main" id="{AEA68D54-1EAD-45D6-B6CC-D07221904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5986" y="95973"/>
            <a:ext cx="12001500" cy="6666230"/>
          </a:xfrm>
          <a:custGeom>
            <a:avLst/>
            <a:gdLst/>
            <a:ahLst/>
            <a:cxnLst/>
            <a:rect l="l" t="t" r="r" b="b"/>
            <a:pathLst>
              <a:path w="12001500" h="6666230">
                <a:moveTo>
                  <a:pt x="0" y="6666039"/>
                </a:moveTo>
                <a:lnTo>
                  <a:pt x="12001233" y="6666039"/>
                </a:lnTo>
                <a:lnTo>
                  <a:pt x="12001233" y="0"/>
                </a:lnTo>
                <a:lnTo>
                  <a:pt x="0" y="0"/>
                </a:lnTo>
                <a:lnTo>
                  <a:pt x="0" y="6666039"/>
                </a:lnTo>
                <a:close/>
              </a:path>
            </a:pathLst>
          </a:custGeom>
          <a:ln w="191960">
            <a:solidFill>
              <a:srgbClr val="E9ECE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5B8E11-7BA2-4A60-A654-2F22523E4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8189B7-2C82-485D-8C8C-9F6C4A0298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66993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49" r:id="rId2"/>
    <p:sldLayoutId id="2147483663" r:id="rId3"/>
    <p:sldLayoutId id="2147483664" r:id="rId4"/>
    <p:sldLayoutId id="2147483650" r:id="rId5"/>
    <p:sldLayoutId id="2147483665" r:id="rId6"/>
    <p:sldLayoutId id="2147483651" r:id="rId7"/>
    <p:sldLayoutId id="2147483652" r:id="rId8"/>
    <p:sldLayoutId id="2147483653" r:id="rId9"/>
    <p:sldLayoutId id="2147483654" r:id="rId10"/>
    <p:sldLayoutId id="2147483655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AEB4B9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AEB4B9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AEB4B9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AEB4B9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AEB4B9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AD079-FCD2-4885-8BE0-FD9919EE13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24072"/>
            <a:ext cx="9144000" cy="1399152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GB" sz="4000" dirty="0">
                <a:latin typeface="+mj-lt"/>
                <a:cs typeface="Times New Roman" panose="02020603050405020304" pitchFamily="18" charset="0"/>
              </a:rPr>
              <a:t>Supervised NLP-Based Media Bias Classification</a:t>
            </a:r>
            <a:endParaRPr lang="en-GB" sz="4000" dirty="0">
              <a:latin typeface="+mj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260A90-7F07-4A3F-9158-D95B5CA4BBF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just"/>
            <a:r>
              <a:rPr lang="en-GB" sz="2800" dirty="0">
                <a:cs typeface="Times New Roman" panose="02020603050405020304" pitchFamily="18" charset="0"/>
              </a:rPr>
              <a:t>Presenter				Edgar Kolian</a:t>
            </a:r>
          </a:p>
          <a:p>
            <a:pPr algn="just"/>
            <a:r>
              <a:rPr lang="en-GB" sz="2800" dirty="0">
                <a:cs typeface="Times New Roman" panose="02020603050405020304" pitchFamily="18" charset="0"/>
              </a:rPr>
              <a:t>Presenter ID Number		39993035</a:t>
            </a:r>
          </a:p>
          <a:p>
            <a:pPr algn="just"/>
            <a:r>
              <a:rPr lang="en-GB" sz="2800" dirty="0">
                <a:cs typeface="Times New Roman" panose="02020603050405020304" pitchFamily="18" charset="0"/>
              </a:rPr>
              <a:t>Course Convenor			Dr. Pascal Welke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8E0348-3B43-4A2F-B443-1B55BC3F16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998E55D-8E2A-4AFE-A61C-B5DBBB7761E7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03000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9582F-C08C-43B2-B7A5-87F39D293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Predicting U.S. media political orientation from text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5F1853-FD1E-4EF2-A4C4-78FF437797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GB" sz="2800" dirty="0">
                <a:cs typeface="Times New Roman" panose="02020603050405020304" pitchFamily="18" charset="0"/>
              </a:rPr>
              <a:t>Traditional media is still a prevalent source of information for most people</a:t>
            </a:r>
            <a:endParaRPr lang="en-GB" sz="2800" dirty="0"/>
          </a:p>
          <a:p>
            <a:pPr marL="457200" indent="-45720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GB" dirty="0"/>
              <a:t>Text-based Natural Language Processing is still a relatively new and growing field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32BEDF-A2BB-4F2F-8D1B-B85B9325BF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998E55D-8E2A-4AFE-A61C-B5DBBB7761E7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75096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A7D91C-F6EF-BE68-46ED-512F4C379F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998E55D-8E2A-4AFE-A61C-B5DBBB7761E7}" type="slidenum">
              <a:rPr lang="en-GB" smtClean="0"/>
              <a:pPr/>
              <a:t>3</a:t>
            </a:fld>
            <a:endParaRPr lang="en-GB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A31ED24-DA66-41B3-6D76-0ED1ECFBAF3C}"/>
              </a:ext>
            </a:extLst>
          </p:cNvPr>
          <p:cNvGrpSpPr/>
          <p:nvPr/>
        </p:nvGrpSpPr>
        <p:grpSpPr>
          <a:xfrm>
            <a:off x="873018" y="2349746"/>
            <a:ext cx="4727850" cy="3789791"/>
            <a:chOff x="850900" y="2849240"/>
            <a:chExt cx="4727850" cy="3789791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0C7AE1A6-6AF4-2A6B-FEF9-BBFD65E10E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0900" y="2849240"/>
              <a:ext cx="4727850" cy="3512793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2721D28-B23B-E585-4977-15935A1F1CCD}"/>
                </a:ext>
              </a:extLst>
            </p:cNvPr>
            <p:cNvSpPr txBox="1"/>
            <p:nvPr/>
          </p:nvSpPr>
          <p:spPr>
            <a:xfrm>
              <a:off x="3018229" y="6362032"/>
              <a:ext cx="39319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[1]</a:t>
              </a:r>
              <a:endParaRPr lang="en-GB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F213126A-3F87-2D51-FB4E-EBDF27CA43AF}"/>
              </a:ext>
            </a:extLst>
          </p:cNvPr>
          <p:cNvGrpSpPr/>
          <p:nvPr/>
        </p:nvGrpSpPr>
        <p:grpSpPr>
          <a:xfrm>
            <a:off x="6591133" y="2349745"/>
            <a:ext cx="4727850" cy="3789791"/>
            <a:chOff x="6521450" y="2886462"/>
            <a:chExt cx="4727850" cy="3752568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7B8D3A4-E4E0-89C8-B23F-73F4AAD98A27}"/>
                </a:ext>
              </a:extLst>
            </p:cNvPr>
            <p:cNvSpPr txBox="1"/>
            <p:nvPr/>
          </p:nvSpPr>
          <p:spPr>
            <a:xfrm>
              <a:off x="8688779" y="6362031"/>
              <a:ext cx="39319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[2]</a:t>
              </a:r>
              <a:endParaRPr lang="en-GB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7A98555A-F69E-BD9C-E165-0DE78B8DEFE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21450" y="2886462"/>
              <a:ext cx="4727850" cy="347556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683999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91F7A2-0938-2DBB-3A23-338575352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35E44-DFFD-D830-B0E4-9CD978121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GB" dirty="0"/>
              <a:t>Initial plan and ideas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A0C58B-5318-E07F-DB7D-A7541F726C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457200" indent="-457200" algn="just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GB" sz="2400" dirty="0"/>
              <a:t>The dataset used is custom-built, consisting of 1000 articles from 10 news outlets chosen based on the ranking of </a:t>
            </a:r>
            <a:r>
              <a:rPr lang="en-GB" sz="2400" dirty="0" err="1"/>
              <a:t>AllSides</a:t>
            </a:r>
            <a:r>
              <a:rPr lang="en-GB" sz="2400" dirty="0"/>
              <a:t>’ “Media Bias Chart”</a:t>
            </a:r>
          </a:p>
          <a:p>
            <a:pPr marL="457200" indent="-457200" algn="just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GB" sz="2400" dirty="0"/>
              <a:t>Preprocessing is convoluted, including converting text into lowercase, Unicode and whitespace normalisation as well as sentence and token segmentation, followed with other recommended techniques</a:t>
            </a:r>
          </a:p>
          <a:p>
            <a:pPr marL="457200" indent="-457200" algn="just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GB" sz="2400" dirty="0"/>
              <a:t>Pipeline of machine learning approach used for this research project is complex and is shown in the next slide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8D3214-0539-168D-04DF-D91FBCDEAF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998E55D-8E2A-4AFE-A61C-B5DBBB7761E7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50134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EF05EAE-3F1E-A2AE-5854-5473D1100A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GB" sz="2800" dirty="0"/>
              <a:t>The initial ML pipeline developed for this research project is as follows: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GB" sz="2800" dirty="0"/>
              <a:t>Data Gathering/Acquisition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GB" sz="2800" dirty="0"/>
              <a:t>Preprocessing (Text Normalisation, Tokenisation, Noise Reduction, Lemmatisation)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GB" sz="2800" dirty="0"/>
              <a:t>Feature Engineering &amp; Representation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GB" sz="2800" dirty="0"/>
              <a:t>Model Building, Training, and Optimisation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GB" sz="2800" dirty="0"/>
              <a:t>Evaluation and Analysis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GB" sz="2800" dirty="0"/>
              <a:t>Interpretation and Reporting of Empirical Results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8957DEF-2F9E-35C3-2BAB-DC2D644E9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dirty="0"/>
              <a:t>Overview of the Machine Learning (ML) Pipeline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CC9F0C-0913-BA8B-7CBE-5D8962A8BA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998E55D-8E2A-4AFE-A61C-B5DBBB7761E7}" type="slidenum">
              <a:rPr lang="en-GB" smtClean="0"/>
              <a:pPr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39246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4AB9E7F-E96D-8E54-7B57-EC764842D5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GB" dirty="0"/>
              <a:t>Feature engineering includes introducing additional features into the data that is being processed.</a:t>
            </a:r>
          </a:p>
          <a:p>
            <a:pPr algn="just"/>
            <a:r>
              <a:rPr lang="en-GB" dirty="0"/>
              <a:t>For text data, features often added for prediction are the following: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GB" dirty="0"/>
              <a:t>TF-IDF Vectorisation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GB" dirty="0"/>
              <a:t>Part-of-Speech (POS) ratios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GB" dirty="0"/>
              <a:t>Pronoun Frequencies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GB" dirty="0"/>
              <a:t>Sentence Length Statistics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A7C096D-6AEF-D047-1043-D54F0839A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Feature Engineering and Representation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D86C47-98C1-5658-9052-711E28D07D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998E55D-8E2A-4AFE-A61C-B5DBBB7761E7}" type="slidenum">
              <a:rPr lang="en-GB" smtClean="0"/>
              <a:pPr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81374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72BF330-973B-6DDE-0147-A6A09AF7A3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GB" dirty="0"/>
              <a:t>This process includes building a model for binary classification</a:t>
            </a:r>
          </a:p>
          <a:p>
            <a:pPr algn="just"/>
            <a:r>
              <a:rPr lang="en-GB" dirty="0"/>
              <a:t>According to the initial plan, the following models will be used for prediction of the label of the data: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GB" dirty="0"/>
              <a:t>Logistic Regression with only TF-IDF features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GB" dirty="0"/>
              <a:t>Linear SVM with TF-IDF features as well as additional engineered features</a:t>
            </a:r>
          </a:p>
          <a:p>
            <a:pPr algn="just"/>
            <a:r>
              <a:rPr lang="en-GB" dirty="0"/>
              <a:t>Optimisation includes tuning hyperparameters used for the mentioned models, maximising accuracy/performance while minimising loss metrics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92B8DE1-5144-F61A-9FC4-90218E45A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dirty="0"/>
              <a:t>Model Building, Training, and Optimisation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4A41B0-2BB1-8F9D-E3C9-85380BF3D6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998E55D-8E2A-4AFE-A61C-B5DBBB7761E7}" type="slidenum">
              <a:rPr lang="en-GB" smtClean="0"/>
              <a:pPr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30091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820A821-5FCE-8E1C-D053-A8531DD441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The performance of the two classifiers is compared using paired statistical tests: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Monte Carlo permutation test (article level)</a:t>
            </a:r>
          </a:p>
          <a:p>
            <a:pPr lvl="1"/>
            <a:r>
              <a:rPr lang="en-US" dirty="0"/>
              <a:t>Applied to individual article predictions within each outlet</a:t>
            </a:r>
          </a:p>
          <a:p>
            <a:pPr lvl="1"/>
            <a:r>
              <a:rPr lang="en-US" dirty="0"/>
              <a:t>Tests whether observed differences in performance metrics (e.g., F1-score) could occur by chance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McNemar’s test (outlet level)</a:t>
            </a:r>
          </a:p>
          <a:p>
            <a:pPr lvl="1"/>
            <a:r>
              <a:rPr lang="en-US" dirty="0"/>
              <a:t>Applied to paired classification outcomes within each outlet</a:t>
            </a:r>
          </a:p>
          <a:p>
            <a:pPr lvl="1"/>
            <a:r>
              <a:rPr lang="en-US" dirty="0"/>
              <a:t>Evaluates whether one model consistently outperforms the other on the same articles</a:t>
            </a:r>
          </a:p>
          <a:p>
            <a:r>
              <a:rPr lang="en-US" dirty="0"/>
              <a:t>Additional details on test setup and assumptions are available upon request.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343F887-B07E-92C8-FA04-A5793DC86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Evaluation and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1BD3AC-712E-3606-340B-9D5A7EFB41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998E55D-8E2A-4AFE-A61C-B5DBBB7761E7}" type="slidenum">
              <a:rPr lang="en-GB" smtClean="0"/>
              <a:pPr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15426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2ADD398-1D7F-4BFD-3CAD-F7A81FCFA3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https://www.statista.com/statistics/381455/most-trusted-sources-of-news-and-info-worldwide/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https://www.statista.com/outlook/tmo/artificial-intelligence/natural-language-processing/worldwide?srsltid=AfmBOoopg3nhAOgCueZZXQrZ2QwNWLHmph_R0BiulWkcTnJJKOMc78ss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E3EAB6D-DB20-4D0E-9891-719B1C41A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References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34E518-F716-AB80-0FA5-10596A0D67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998E55D-8E2A-4AFE-A61C-B5DBBB7761E7}" type="slidenum">
              <a:rPr lang="en-GB" smtClean="0"/>
              <a:pPr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54674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44546A"/>
      </a:hlink>
      <a:folHlink>
        <a:srgbClr val="44546A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E09F49A34EDF34DAF2C3AC8FEAF784F" ma:contentTypeVersion="11" ma:contentTypeDescription="Create a new document." ma:contentTypeScope="" ma:versionID="79bcccf70e70f18e000ebb2c8525f16e">
  <xsd:schema xmlns:xsd="http://www.w3.org/2001/XMLSchema" xmlns:xs="http://www.w3.org/2001/XMLSchema" xmlns:p="http://schemas.microsoft.com/office/2006/metadata/properties" xmlns:ns2="a0e604d2-0d1b-40e0-8fc4-b065aee05f8d" xmlns:ns3="6c465ec4-e807-4c08-873f-c03434ec330f" targetNamespace="http://schemas.microsoft.com/office/2006/metadata/properties" ma:root="true" ma:fieldsID="71bd2d520c8bb9abbaf98143b7eb51f0" ns2:_="" ns3:_="">
    <xsd:import namespace="a0e604d2-0d1b-40e0-8fc4-b065aee05f8d"/>
    <xsd:import namespace="6c465ec4-e807-4c08-873f-c03434ec330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e604d2-0d1b-40e0-8fc4-b065aee05f8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6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c465ec4-e807-4c08-873f-c03434ec330f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0915627-141A-4167-BD59-167111BA0BF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0e604d2-0d1b-40e0-8fc4-b065aee05f8d"/>
    <ds:schemaRef ds:uri="6c465ec4-e807-4c08-873f-c03434ec330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DC86064-68E8-457D-B7C6-1BCB151DE675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EECD0C2-9986-49CD-AFF7-919632D30C2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TM03457444[[fn=Basis]]</Template>
  <TotalTime>0</TotalTime>
  <Words>464</Words>
  <Application>Microsoft Office PowerPoint</Application>
  <PresentationFormat>Widescreen</PresentationFormat>
  <Paragraphs>57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Office Theme</vt:lpstr>
      <vt:lpstr>Supervised NLP-Based Media Bias Classification</vt:lpstr>
      <vt:lpstr>Predicting U.S. media political orientation from text</vt:lpstr>
      <vt:lpstr>PowerPoint Presentation</vt:lpstr>
      <vt:lpstr>Initial plan and ideas</vt:lpstr>
      <vt:lpstr>Overview of the Machine Learning (ML) Pipeline</vt:lpstr>
      <vt:lpstr>Feature Engineering and Representation</vt:lpstr>
      <vt:lpstr>Model Building, Training, and Optimisation</vt:lpstr>
      <vt:lpstr>Evaluation and Analysis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2020-06-05T17:03:52Z</dcterms:created>
  <dcterms:modified xsi:type="dcterms:W3CDTF">2026-02-07T21:59:30Z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0x010100AE09F49A34EDF34DAF2C3AC8FEAF784F</vt:lpwstr>
  </property>
</Properties>
</file>